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nantason Bold" panose="020B0604020202020204" charset="-34"/>
      <p:regular r:id="rId9"/>
    </p:embeddedFont>
    <p:embeddedFont>
      <p:font typeface="Canva Sans" panose="020B0604020202020204" charset="0"/>
      <p:regular r:id="rId10"/>
    </p:embeddedFont>
    <p:embeddedFont>
      <p:font typeface="Canva Sans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6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87712" y="165961"/>
            <a:ext cx="4128367" cy="2052779"/>
          </a:xfrm>
          <a:custGeom>
            <a:avLst/>
            <a:gdLst/>
            <a:ahLst/>
            <a:cxnLst/>
            <a:rect l="l" t="t" r="r" b="b"/>
            <a:pathLst>
              <a:path w="4128367" h="2052779">
                <a:moveTo>
                  <a:pt x="0" y="0"/>
                </a:moveTo>
                <a:lnTo>
                  <a:pt x="4128367" y="0"/>
                </a:lnTo>
                <a:lnTo>
                  <a:pt x="4128367" y="2052779"/>
                </a:lnTo>
                <a:lnTo>
                  <a:pt x="0" y="2052779"/>
                </a:lnTo>
                <a:lnTo>
                  <a:pt x="0" y="0"/>
                </a:lnTo>
                <a:close/>
              </a:path>
            </a:pathLst>
          </a:custGeom>
          <a:blipFill>
            <a:blip r:embed="rId5"/>
            <a:stretch>
              <a:fillRect/>
            </a:stretch>
          </a:blipFill>
        </p:spPr>
      </p:sp>
      <p:sp>
        <p:nvSpPr>
          <p:cNvPr id="8" name="TextBox 8"/>
          <p:cNvSpPr txBox="1"/>
          <p:nvPr/>
        </p:nvSpPr>
        <p:spPr>
          <a:xfrm>
            <a:off x="3680360" y="2685509"/>
            <a:ext cx="10540879" cy="1260751"/>
          </a:xfrm>
          <a:prstGeom prst="rect">
            <a:avLst/>
          </a:prstGeom>
        </p:spPr>
        <p:txBody>
          <a:bodyPr lIns="0" tIns="0" rIns="0" bIns="0" rtlCol="0" anchor="t">
            <a:spAutoFit/>
          </a:bodyPr>
          <a:lstStyle/>
          <a:p>
            <a:pPr algn="ctr">
              <a:lnSpc>
                <a:spcPts val="10309"/>
              </a:lnSpc>
              <a:spcBef>
                <a:spcPct val="0"/>
              </a:spcBef>
            </a:pPr>
            <a:r>
              <a:rPr lang="en-US" sz="7364" b="1" dirty="0">
                <a:solidFill>
                  <a:srgbClr val="000000"/>
                </a:solidFill>
                <a:latin typeface="Canva Sans Bold"/>
                <a:ea typeface="Canva Sans Bold"/>
                <a:cs typeface="Canva Sans Bold"/>
                <a:sym typeface="Canva Sans Bold"/>
              </a:rPr>
              <a:t>Suffix Index Builder</a:t>
            </a:r>
          </a:p>
        </p:txBody>
      </p:sp>
      <p:sp>
        <p:nvSpPr>
          <p:cNvPr id="9" name="TextBox 9"/>
          <p:cNvSpPr txBox="1"/>
          <p:nvPr/>
        </p:nvSpPr>
        <p:spPr>
          <a:xfrm>
            <a:off x="4573814" y="4766682"/>
            <a:ext cx="7099363" cy="1401662"/>
          </a:xfrm>
          <a:prstGeom prst="rect">
            <a:avLst/>
          </a:prstGeom>
        </p:spPr>
        <p:txBody>
          <a:bodyPr lIns="0" tIns="0" rIns="0" bIns="0" rtlCol="0" anchor="t">
            <a:spAutoFit/>
          </a:bodyPr>
          <a:lstStyle/>
          <a:p>
            <a:pPr algn="ctr">
              <a:lnSpc>
                <a:spcPts val="5693"/>
              </a:lnSpc>
              <a:spcBef>
                <a:spcPct val="0"/>
              </a:spcBef>
            </a:pPr>
            <a:r>
              <a:rPr lang="en-US" sz="4066">
                <a:solidFill>
                  <a:srgbClr val="000000"/>
                </a:solidFill>
                <a:latin typeface="Canva Sans"/>
                <a:ea typeface="Canva Sans"/>
                <a:cs typeface="Canva Sans"/>
                <a:sym typeface="Canva Sans"/>
              </a:rPr>
              <a:t>Efficient String Indexing using Advanced algorithms</a:t>
            </a:r>
          </a:p>
        </p:txBody>
      </p:sp>
      <p:sp>
        <p:nvSpPr>
          <p:cNvPr id="10" name="TextBox 10"/>
          <p:cNvSpPr txBox="1"/>
          <p:nvPr/>
        </p:nvSpPr>
        <p:spPr>
          <a:xfrm>
            <a:off x="12145431" y="7646891"/>
            <a:ext cx="5113869" cy="1803594"/>
          </a:xfrm>
          <a:prstGeom prst="rect">
            <a:avLst/>
          </a:prstGeom>
        </p:spPr>
        <p:txBody>
          <a:bodyPr lIns="0" tIns="0" rIns="0" bIns="0" rtlCol="0" anchor="t">
            <a:spAutoFit/>
          </a:bodyPr>
          <a:lstStyle/>
          <a:p>
            <a:pPr algn="ctr">
              <a:lnSpc>
                <a:spcPts val="3597"/>
              </a:lnSpc>
              <a:spcBef>
                <a:spcPct val="0"/>
              </a:spcBef>
            </a:pPr>
            <a:r>
              <a:rPr lang="en-US" sz="2569" b="1">
                <a:solidFill>
                  <a:srgbClr val="000000"/>
                </a:solidFill>
                <a:latin typeface="Canva Sans Bold"/>
                <a:ea typeface="Canva Sans Bold"/>
                <a:cs typeface="Canva Sans Bold"/>
                <a:sym typeface="Canva Sans Bold"/>
              </a:rPr>
              <a:t>Presented by:</a:t>
            </a:r>
          </a:p>
          <a:p>
            <a:pPr algn="ctr">
              <a:lnSpc>
                <a:spcPts val="3597"/>
              </a:lnSpc>
              <a:spcBef>
                <a:spcPct val="0"/>
              </a:spcBef>
            </a:pPr>
            <a:r>
              <a:rPr lang="en-US" sz="2569" b="1">
                <a:solidFill>
                  <a:srgbClr val="000000"/>
                </a:solidFill>
                <a:latin typeface="Canva Sans Bold"/>
                <a:ea typeface="Canva Sans Bold"/>
                <a:cs typeface="Canva Sans Bold"/>
                <a:sym typeface="Canva Sans Bold"/>
              </a:rPr>
              <a:t> M. HAIMA HASINI(2520030228)</a:t>
            </a:r>
          </a:p>
          <a:p>
            <a:pPr algn="ctr">
              <a:lnSpc>
                <a:spcPts val="3597"/>
              </a:lnSpc>
              <a:spcBef>
                <a:spcPct val="0"/>
              </a:spcBef>
            </a:pPr>
            <a:r>
              <a:rPr lang="en-US" sz="2569" b="1">
                <a:solidFill>
                  <a:srgbClr val="000000"/>
                </a:solidFill>
                <a:latin typeface="Canva Sans Bold"/>
                <a:ea typeface="Canva Sans Bold"/>
                <a:cs typeface="Canva Sans Bold"/>
                <a:sym typeface="Canva Sans Bold"/>
              </a:rPr>
              <a:t>D. BHAVANA(2520030242)</a:t>
            </a:r>
          </a:p>
          <a:p>
            <a:pPr algn="ctr">
              <a:lnSpc>
                <a:spcPts val="3597"/>
              </a:lnSpc>
              <a:spcBef>
                <a:spcPct val="0"/>
              </a:spcBef>
            </a:pPr>
            <a:r>
              <a:rPr lang="en-US" sz="2569" b="1">
                <a:solidFill>
                  <a:srgbClr val="000000"/>
                </a:solidFill>
                <a:latin typeface="Canva Sans Bold"/>
                <a:ea typeface="Canva Sans Bold"/>
                <a:cs typeface="Canva Sans Bold"/>
                <a:sym typeface="Canva Sans Bold"/>
              </a:rPr>
              <a:t>P. SAHITHI(2520030262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028700" y="3187253"/>
            <a:ext cx="16428344" cy="4262427"/>
          </a:xfrm>
          <a:prstGeom prst="rect">
            <a:avLst/>
          </a:prstGeom>
        </p:spPr>
        <p:txBody>
          <a:bodyPr lIns="0" tIns="0" rIns="0" bIns="0" rtlCol="0" anchor="t">
            <a:spAutoFit/>
          </a:bodyPr>
          <a:lstStyle/>
          <a:p>
            <a:pPr algn="l">
              <a:lnSpc>
                <a:spcPts val="3413"/>
              </a:lnSpc>
              <a:spcBef>
                <a:spcPct val="0"/>
              </a:spcBef>
            </a:pPr>
            <a:r>
              <a:rPr lang="en-US" sz="2437" b="1">
                <a:solidFill>
                  <a:srgbClr val="000000"/>
                </a:solidFill>
                <a:latin typeface="Canva Sans Bold"/>
                <a:ea typeface="Canva Sans Bold"/>
                <a:cs typeface="Canva Sans Bold"/>
                <a:sym typeface="Canva Sans Bold"/>
              </a:rPr>
              <a:t>Substring searching in large text files is often slow and inefficient when using traditional methods, as the naïve approach requires scanning the entire text for each query. This results in high time complexity and poor performance, making it unsuitable for applications where speed and accuracy are critical, such as search engines, bioinformatics, and data compression. To address these limitations, our project introduces a SuffixIndex Builder, which constructs a suffix index to enable faster lookups and efficient query handling. By leveraging advanced algorithmic techniques like divide‑and‑conquer and dynamic programming, the solution achieves scalability, balances memory usage, and supports multiple queries effectively. The project not only demonstrates practical applications of efficient algorithms and complexity analysis but also opens pathways for future extensions into parallel and distributed computing, ensuring even greater performance with massive datasets.</a:t>
            </a:r>
          </a:p>
        </p:txBody>
      </p:sp>
      <p:sp>
        <p:nvSpPr>
          <p:cNvPr id="9" name="TextBox 9"/>
          <p:cNvSpPr txBox="1"/>
          <p:nvPr/>
        </p:nvSpPr>
        <p:spPr>
          <a:xfrm>
            <a:off x="4117166" y="1146083"/>
            <a:ext cx="4188634" cy="934615"/>
          </a:xfrm>
          <a:prstGeom prst="rect">
            <a:avLst/>
          </a:prstGeom>
        </p:spPr>
        <p:txBody>
          <a:bodyPr wrap="square" lIns="0" tIns="0" rIns="0" bIns="0" rtlCol="0" anchor="t">
            <a:spAutoFit/>
          </a:bodyPr>
          <a:lstStyle/>
          <a:p>
            <a:pPr algn="ctr">
              <a:lnSpc>
                <a:spcPts val="7800"/>
              </a:lnSpc>
              <a:spcBef>
                <a:spcPct val="0"/>
              </a:spcBef>
            </a:pPr>
            <a:r>
              <a:rPr lang="en-US" sz="5571" b="1" u="sng" dirty="0">
                <a:solidFill>
                  <a:srgbClr val="000000"/>
                </a:solidFill>
                <a:latin typeface="Canva Sans Bold"/>
                <a:ea typeface="Canva Sans Bold"/>
                <a:cs typeface="Canva Sans Bold"/>
                <a:sym typeface="Canva Sans Bold"/>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4182294" y="612248"/>
            <a:ext cx="6649335" cy="747178"/>
          </a:xfrm>
          <a:prstGeom prst="rect">
            <a:avLst/>
          </a:prstGeom>
        </p:spPr>
        <p:txBody>
          <a:bodyPr wrap="square" lIns="0" tIns="0" rIns="0" bIns="0" rtlCol="0" anchor="t">
            <a:spAutoFit/>
          </a:bodyPr>
          <a:lstStyle/>
          <a:p>
            <a:pPr algn="ctr">
              <a:lnSpc>
                <a:spcPts val="6222"/>
              </a:lnSpc>
              <a:spcBef>
                <a:spcPct val="0"/>
              </a:spcBef>
            </a:pPr>
            <a:r>
              <a:rPr lang="en-US" sz="4444" b="1" u="sng" dirty="0">
                <a:solidFill>
                  <a:srgbClr val="000000"/>
                </a:solidFill>
                <a:latin typeface="Canva Sans Bold"/>
                <a:ea typeface="Canva Sans Bold"/>
                <a:cs typeface="Canva Sans Bold"/>
                <a:sym typeface="Canva Sans Bold"/>
              </a:rPr>
              <a:t>Problem Statement</a:t>
            </a:r>
          </a:p>
        </p:txBody>
      </p:sp>
      <p:sp>
        <p:nvSpPr>
          <p:cNvPr id="9" name="TextBox 9"/>
          <p:cNvSpPr txBox="1"/>
          <p:nvPr/>
        </p:nvSpPr>
        <p:spPr>
          <a:xfrm>
            <a:off x="2905125" y="2225081"/>
            <a:ext cx="11009998" cy="4011436"/>
          </a:xfrm>
          <a:prstGeom prst="rect">
            <a:avLst/>
          </a:prstGeom>
        </p:spPr>
        <p:txBody>
          <a:bodyPr lIns="0" tIns="0" rIns="0" bIns="0" rtlCol="0" anchor="t">
            <a:spAutoFit/>
          </a:bodyPr>
          <a:lstStyle/>
          <a:p>
            <a:pPr algn="l">
              <a:lnSpc>
                <a:spcPts val="3597"/>
              </a:lnSpc>
              <a:spcBef>
                <a:spcPct val="0"/>
              </a:spcBef>
            </a:pPr>
            <a:r>
              <a:rPr lang="en-US" sz="2569" b="1">
                <a:solidFill>
                  <a:srgbClr val="000000"/>
                </a:solidFill>
                <a:latin typeface="Canva Sans Bold"/>
                <a:ea typeface="Canva Sans Bold"/>
                <a:cs typeface="Canva Sans Bold"/>
                <a:sym typeface="Canva Sans Bold"/>
              </a:rPr>
              <a:t>Searching for substrings in large text files is often slow and inefficient when using traditional methods. The naïve approach requires scanning the entire text for every query, which leads to high time complexity and poor performance, especially with big datasets. This makes it unsuitable for applications like search engines, bioinformatics, and data compression where speed and accuracy are critical. To overcome these limitations, there is a need for a scalable solution that reduces search time, balances memory usage, and supports multiple queries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2986612" y="1082757"/>
            <a:ext cx="7868266" cy="753888"/>
          </a:xfrm>
          <a:prstGeom prst="rect">
            <a:avLst/>
          </a:prstGeom>
        </p:spPr>
        <p:txBody>
          <a:bodyPr wrap="square" lIns="0" tIns="0" rIns="0" bIns="0" rtlCol="0" anchor="t">
            <a:spAutoFit/>
          </a:bodyPr>
          <a:lstStyle/>
          <a:p>
            <a:pPr algn="ctr">
              <a:lnSpc>
                <a:spcPts val="6222"/>
              </a:lnSpc>
              <a:spcBef>
                <a:spcPct val="0"/>
              </a:spcBef>
            </a:pPr>
            <a:r>
              <a:rPr lang="en-US" sz="4444" b="1" u="sng" dirty="0">
                <a:solidFill>
                  <a:srgbClr val="000000"/>
                </a:solidFill>
                <a:latin typeface="Canva Sans Bold"/>
                <a:ea typeface="Canva Sans Bold"/>
                <a:cs typeface="Canva Sans Bold"/>
                <a:sym typeface="Canva Sans Bold"/>
              </a:rPr>
              <a:t>Proposed Functionalities</a:t>
            </a:r>
          </a:p>
        </p:txBody>
      </p:sp>
      <p:sp>
        <p:nvSpPr>
          <p:cNvPr id="9" name="TextBox 9"/>
          <p:cNvSpPr txBox="1"/>
          <p:nvPr/>
        </p:nvSpPr>
        <p:spPr>
          <a:xfrm>
            <a:off x="2986612" y="2423299"/>
            <a:ext cx="12314777" cy="5950500"/>
          </a:xfrm>
          <a:prstGeom prst="rect">
            <a:avLst/>
          </a:prstGeom>
        </p:spPr>
        <p:txBody>
          <a:bodyPr lIns="0" tIns="0" rIns="0" bIns="0" rtlCol="0" anchor="t">
            <a:spAutoFit/>
          </a:bodyPr>
          <a:lstStyle/>
          <a:p>
            <a:pPr marL="670012" lvl="1" indent="-335006" algn="l">
              <a:lnSpc>
                <a:spcPts val="4344"/>
              </a:lnSpc>
              <a:buFont typeface="Arial"/>
              <a:buChar char="•"/>
            </a:pPr>
            <a:r>
              <a:rPr lang="en-US" sz="3103" b="1">
                <a:solidFill>
                  <a:srgbClr val="000000"/>
                </a:solidFill>
                <a:latin typeface="Canva Sans Bold"/>
                <a:ea typeface="Canva Sans Bold"/>
                <a:cs typeface="Canva Sans Bold"/>
                <a:sym typeface="Canva Sans Bold"/>
              </a:rPr>
              <a:t>Construct suffix index → Create a shortcut/index from the text.</a:t>
            </a:r>
          </a:p>
          <a:p>
            <a:pPr marL="670012" lvl="1" indent="-335006" algn="l">
              <a:lnSpc>
                <a:spcPts val="4344"/>
              </a:lnSpc>
              <a:buFont typeface="Arial"/>
              <a:buChar char="•"/>
            </a:pPr>
            <a:r>
              <a:rPr lang="en-US" sz="3103" b="1">
                <a:solidFill>
                  <a:srgbClr val="000000"/>
                </a:solidFill>
                <a:latin typeface="Canva Sans Bold"/>
                <a:ea typeface="Canva Sans Bold"/>
                <a:cs typeface="Canva Sans Bold"/>
                <a:sym typeface="Canva Sans Bold"/>
              </a:rPr>
              <a:t>Fast substring search → Use the index to find words or patterns quickly.</a:t>
            </a:r>
          </a:p>
          <a:p>
            <a:pPr marL="670012" lvl="1" indent="-335006" algn="l">
              <a:lnSpc>
                <a:spcPts val="4344"/>
              </a:lnSpc>
              <a:buFont typeface="Arial"/>
              <a:buChar char="•"/>
            </a:pPr>
            <a:r>
              <a:rPr lang="en-US" sz="3103" b="1">
                <a:solidFill>
                  <a:srgbClr val="000000"/>
                </a:solidFill>
                <a:latin typeface="Canva Sans Bold"/>
                <a:ea typeface="Canva Sans Bold"/>
                <a:cs typeface="Canva Sans Bold"/>
                <a:sym typeface="Canva Sans Bold"/>
              </a:rPr>
              <a:t>Handle large files → Work with very large amounts of text.</a:t>
            </a:r>
          </a:p>
          <a:p>
            <a:pPr marL="670012" lvl="1" indent="-335006" algn="l">
              <a:lnSpc>
                <a:spcPts val="4344"/>
              </a:lnSpc>
              <a:buFont typeface="Arial"/>
              <a:buChar char="•"/>
            </a:pPr>
            <a:r>
              <a:rPr lang="en-US" sz="3103" b="1">
                <a:solidFill>
                  <a:srgbClr val="000000"/>
                </a:solidFill>
                <a:latin typeface="Canva Sans Bold"/>
                <a:ea typeface="Canva Sans Bold"/>
                <a:cs typeface="Canva Sans Bold"/>
                <a:sym typeface="Canva Sans Bold"/>
              </a:rPr>
              <a:t>Efficient results → Give the search result without unnecessary scanning.</a:t>
            </a:r>
          </a:p>
          <a:p>
            <a:pPr marL="670012" lvl="1" indent="-335006" algn="l">
              <a:lnSpc>
                <a:spcPts val="4344"/>
              </a:lnSpc>
              <a:buFont typeface="Arial"/>
              <a:buChar char="•"/>
            </a:pPr>
            <a:r>
              <a:rPr lang="en-US" sz="3103" b="1">
                <a:solidFill>
                  <a:srgbClr val="000000"/>
                </a:solidFill>
                <a:latin typeface="Canva Sans Bold"/>
                <a:ea typeface="Canva Sans Bold"/>
                <a:cs typeface="Canva Sans Bold"/>
                <a:sym typeface="Canva Sans Bold"/>
              </a:rPr>
              <a:t>Random queries → Test the system with different search words.</a:t>
            </a:r>
          </a:p>
          <a:p>
            <a:pPr marL="670012" lvl="1" indent="-335006" algn="l">
              <a:lnSpc>
                <a:spcPts val="4344"/>
              </a:lnSpc>
              <a:buFont typeface="Arial"/>
              <a:buChar char="•"/>
            </a:pPr>
            <a:r>
              <a:rPr lang="en-US" sz="3103" b="1">
                <a:solidFill>
                  <a:srgbClr val="000000"/>
                </a:solidFill>
                <a:latin typeface="Canva Sans Bold"/>
                <a:ea typeface="Canva Sans Bold"/>
                <a:cs typeface="Canva Sans Bold"/>
                <a:sym typeface="Canva Sans Bold"/>
              </a:rPr>
              <a:t>Future extension → Make it possible to divide the work among multiple computers/processors.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216217" y="1280406"/>
            <a:ext cx="6649336" cy="753888"/>
          </a:xfrm>
          <a:prstGeom prst="rect">
            <a:avLst/>
          </a:prstGeom>
        </p:spPr>
        <p:txBody>
          <a:bodyPr wrap="square" lIns="0" tIns="0" rIns="0" bIns="0" rtlCol="0" anchor="t">
            <a:spAutoFit/>
          </a:bodyPr>
          <a:lstStyle/>
          <a:p>
            <a:pPr algn="ctr">
              <a:lnSpc>
                <a:spcPts val="6222"/>
              </a:lnSpc>
              <a:spcBef>
                <a:spcPct val="0"/>
              </a:spcBef>
            </a:pPr>
            <a:r>
              <a:rPr lang="en-US" sz="4444" b="1" u="sng" dirty="0">
                <a:solidFill>
                  <a:srgbClr val="000000"/>
                </a:solidFill>
                <a:latin typeface="Canva Sans Bold"/>
                <a:ea typeface="Canva Sans Bold"/>
                <a:cs typeface="Canva Sans Bold"/>
                <a:sym typeface="Canva Sans Bold"/>
              </a:rPr>
              <a:t>Tools &amp;Technologies</a:t>
            </a:r>
          </a:p>
        </p:txBody>
      </p:sp>
      <p:sp>
        <p:nvSpPr>
          <p:cNvPr id="9" name="TextBox 9"/>
          <p:cNvSpPr txBox="1"/>
          <p:nvPr/>
        </p:nvSpPr>
        <p:spPr>
          <a:xfrm>
            <a:off x="2776942" y="2900414"/>
            <a:ext cx="11667649" cy="4322946"/>
          </a:xfrm>
          <a:prstGeom prst="rect">
            <a:avLst/>
          </a:prstGeom>
        </p:spPr>
        <p:txBody>
          <a:bodyPr lIns="0" tIns="0" rIns="0" bIns="0" rtlCol="0" anchor="t">
            <a:spAutoFit/>
          </a:bodyPr>
          <a:lstStyle/>
          <a:p>
            <a:pPr algn="l">
              <a:lnSpc>
                <a:spcPts val="4277"/>
              </a:lnSpc>
              <a:spcBef>
                <a:spcPct val="0"/>
              </a:spcBef>
            </a:pPr>
            <a:r>
              <a:rPr lang="en-US" sz="3055" b="1">
                <a:solidFill>
                  <a:srgbClr val="000000"/>
                </a:solidFill>
                <a:latin typeface="Canva Sans Bold"/>
                <a:ea typeface="Canva Sans Bold"/>
                <a:cs typeface="Canva Sans Bold"/>
                <a:sym typeface="Canva Sans Bold"/>
              </a:rPr>
              <a:t>•Programming Language: Java, Python</a:t>
            </a:r>
          </a:p>
          <a:p>
            <a:pPr algn="l">
              <a:lnSpc>
                <a:spcPts val="4277"/>
              </a:lnSpc>
              <a:spcBef>
                <a:spcPct val="0"/>
              </a:spcBef>
            </a:pPr>
            <a:r>
              <a:rPr lang="en-US" sz="3055" b="1">
                <a:solidFill>
                  <a:srgbClr val="000000"/>
                </a:solidFill>
                <a:latin typeface="Canva Sans Bold"/>
                <a:ea typeface="Canva Sans Bold"/>
                <a:cs typeface="Canva Sans Bold"/>
                <a:sym typeface="Canva Sans Bold"/>
              </a:rPr>
              <a:t>•Data Structures: Arrays, Trees, Graphs</a:t>
            </a:r>
          </a:p>
          <a:p>
            <a:pPr algn="l">
              <a:lnSpc>
                <a:spcPts val="4277"/>
              </a:lnSpc>
              <a:spcBef>
                <a:spcPct val="0"/>
              </a:spcBef>
            </a:pPr>
            <a:r>
              <a:rPr lang="en-US" sz="3055" b="1">
                <a:solidFill>
                  <a:srgbClr val="000000"/>
                </a:solidFill>
                <a:latin typeface="Canva Sans Bold"/>
                <a:ea typeface="Canva Sans Bold"/>
                <a:cs typeface="Canva Sans Bold"/>
                <a:sym typeface="Canva Sans Bold"/>
              </a:rPr>
              <a:t>•Algorithmic Paradigms: Divide‑and‑Conquer, DP, Randomized</a:t>
            </a:r>
          </a:p>
          <a:p>
            <a:pPr algn="l">
              <a:lnSpc>
                <a:spcPts val="4277"/>
              </a:lnSpc>
              <a:spcBef>
                <a:spcPct val="0"/>
              </a:spcBef>
            </a:pPr>
            <a:r>
              <a:rPr lang="en-US" sz="3055" b="1">
                <a:solidFill>
                  <a:srgbClr val="000000"/>
                </a:solidFill>
                <a:latin typeface="Canva Sans Bold"/>
                <a:ea typeface="Canva Sans Bold"/>
                <a:cs typeface="Canva Sans Bold"/>
                <a:sym typeface="Canva Sans Bold"/>
              </a:rPr>
              <a:t>•IDE: VS Code</a:t>
            </a:r>
          </a:p>
          <a:p>
            <a:pPr algn="l">
              <a:lnSpc>
                <a:spcPts val="4277"/>
              </a:lnSpc>
              <a:spcBef>
                <a:spcPct val="0"/>
              </a:spcBef>
            </a:pPr>
            <a:r>
              <a:rPr lang="en-US" sz="3055" b="1">
                <a:solidFill>
                  <a:srgbClr val="000000"/>
                </a:solidFill>
                <a:latin typeface="Canva Sans Bold"/>
                <a:ea typeface="Canva Sans Bold"/>
                <a:cs typeface="Canva Sans Bold"/>
                <a:sym typeface="Canva Sans Bold"/>
              </a:rPr>
              <a:t>•Version Control: GitHub</a:t>
            </a:r>
          </a:p>
          <a:p>
            <a:pPr algn="l">
              <a:lnSpc>
                <a:spcPts val="4277"/>
              </a:lnSpc>
              <a:spcBef>
                <a:spcPct val="0"/>
              </a:spcBef>
            </a:pPr>
            <a:r>
              <a:rPr lang="en-US" sz="3055" b="1">
                <a:solidFill>
                  <a:srgbClr val="000000"/>
                </a:solidFill>
                <a:latin typeface="Canva Sans Bold"/>
                <a:ea typeface="Canva Sans Bold"/>
                <a:cs typeface="Canva Sans Bold"/>
                <a:sym typeface="Canva Sans Bold"/>
              </a:rPr>
              <a:t>•Compiler: GCC/Clang</a:t>
            </a:r>
          </a:p>
          <a:p>
            <a:pPr algn="l">
              <a:lnSpc>
                <a:spcPts val="4277"/>
              </a:lnSpc>
              <a:spcBef>
                <a:spcPct val="0"/>
              </a:spcBef>
            </a:pPr>
            <a:r>
              <a:rPr lang="en-US" sz="3055" b="1">
                <a:solidFill>
                  <a:srgbClr val="000000"/>
                </a:solidFill>
                <a:latin typeface="Canva Sans Bold"/>
                <a:ea typeface="Canva Sans Bold"/>
                <a:cs typeface="Canva Sans Bold"/>
                <a:sym typeface="Canva Sans Bold"/>
              </a:rPr>
              <a:t>•Optional: Python for visualization</a:t>
            </a:r>
          </a:p>
          <a:p>
            <a:pPr algn="l">
              <a:lnSpc>
                <a:spcPts val="4277"/>
              </a:lnSpc>
              <a:spcBef>
                <a:spcPct val="0"/>
              </a:spcBef>
            </a:pPr>
            <a:r>
              <a:rPr lang="en-US" sz="3055" b="1">
                <a:solidFill>
                  <a:srgbClr val="000000"/>
                </a:solidFill>
                <a:latin typeface="Canva Sans Bold"/>
                <a:ea typeface="Canva Sans Bold"/>
                <a:cs typeface="Canva Sans Bold"/>
                <a:sym typeface="Canva Sans Bold"/>
              </a:rPr>
              <a:t>•Documentation: Google Docs/Sheets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200401" y="1280406"/>
            <a:ext cx="6258592" cy="753888"/>
          </a:xfrm>
          <a:prstGeom prst="rect">
            <a:avLst/>
          </a:prstGeom>
        </p:spPr>
        <p:txBody>
          <a:bodyPr wrap="square" lIns="0" tIns="0" rIns="0" bIns="0" rtlCol="0" anchor="t">
            <a:spAutoFit/>
          </a:bodyPr>
          <a:lstStyle/>
          <a:p>
            <a:pPr algn="ctr">
              <a:lnSpc>
                <a:spcPts val="6222"/>
              </a:lnSpc>
              <a:spcBef>
                <a:spcPct val="0"/>
              </a:spcBef>
            </a:pPr>
            <a:r>
              <a:rPr lang="en-US" sz="4444" b="1" u="sng" dirty="0">
                <a:solidFill>
                  <a:srgbClr val="000000"/>
                </a:solidFill>
                <a:latin typeface="Canva Sans Bold"/>
                <a:ea typeface="Canva Sans Bold"/>
                <a:cs typeface="Canva Sans Bold"/>
                <a:sym typeface="Canva Sans Bold"/>
              </a:rPr>
              <a:t>Expected Outcome</a:t>
            </a:r>
          </a:p>
        </p:txBody>
      </p:sp>
      <p:sp>
        <p:nvSpPr>
          <p:cNvPr id="9" name="TextBox 9"/>
          <p:cNvSpPr txBox="1"/>
          <p:nvPr/>
        </p:nvSpPr>
        <p:spPr>
          <a:xfrm>
            <a:off x="3106751" y="2349942"/>
            <a:ext cx="12873038" cy="5434483"/>
          </a:xfrm>
          <a:prstGeom prst="rect">
            <a:avLst/>
          </a:prstGeom>
        </p:spPr>
        <p:txBody>
          <a:bodyPr lIns="0" tIns="0" rIns="0" bIns="0" rtlCol="0" anchor="t">
            <a:spAutoFit/>
          </a:bodyPr>
          <a:lstStyle/>
          <a:p>
            <a:pPr algn="l">
              <a:lnSpc>
                <a:spcPts val="3911"/>
              </a:lnSpc>
              <a:spcBef>
                <a:spcPct val="0"/>
              </a:spcBef>
            </a:pPr>
            <a:r>
              <a:rPr lang="en-US" sz="2793" b="1" dirty="0">
                <a:solidFill>
                  <a:srgbClr val="000000"/>
                </a:solidFill>
                <a:latin typeface="Canva Sans Bold"/>
                <a:ea typeface="Canva Sans Bold"/>
                <a:cs typeface="Canva Sans Bold"/>
                <a:sym typeface="Canva Sans Bold"/>
              </a:rPr>
              <a:t>•Faster substring search (O(m + log n))</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•Optimized time vs. space trade‑offs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•Works well with large datasets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•Demonstrates algorithmic efficiency</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•Applications in search engines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•Applications in bioinformatics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•Applications in compression tools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•Shows practical use of syllabus concepts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•Provides a scalable solution for real‑world problems</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•Encourages future extensions into parallel/distributed computing</a:t>
            </a:r>
          </a:p>
          <a:p>
            <a:pPr algn="l">
              <a:lnSpc>
                <a:spcPts val="3911"/>
              </a:lnSpc>
              <a:spcBef>
                <a:spcPct val="0"/>
              </a:spcBef>
            </a:pPr>
            <a:r>
              <a:rPr lang="en-US" sz="2793" b="1" dirty="0">
                <a:solidFill>
                  <a:srgbClr val="000000"/>
                </a:solidFill>
                <a:latin typeface="Canva Sans Bold"/>
                <a:ea typeface="Canva Sans Bold"/>
                <a:cs typeface="Canva Sans Bold"/>
                <a:sym typeface="Canva Sans Bold"/>
              </a:rPr>
              <a:t>•Improves understanding of advanced algorithms through implementation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a:off x="-624614" y="6515100"/>
            <a:ext cx="7059478" cy="4114800"/>
          </a:xfrm>
          <a:custGeom>
            <a:avLst/>
            <a:gdLst/>
            <a:ahLst/>
            <a:cxnLst/>
            <a:rect l="l" t="t" r="r" b="b"/>
            <a:pathLst>
              <a:path w="7059478" h="4114800">
                <a:moveTo>
                  <a:pt x="0" y="0"/>
                </a:moveTo>
                <a:lnTo>
                  <a:pt x="7059478" y="0"/>
                </a:lnTo>
                <a:lnTo>
                  <a:pt x="705947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924574" y="-357188"/>
            <a:ext cx="7059478" cy="4114800"/>
          </a:xfrm>
          <a:custGeom>
            <a:avLst/>
            <a:gdLst/>
            <a:ahLst/>
            <a:cxnLst/>
            <a:rect l="l" t="t" r="r" b="b"/>
            <a:pathLst>
              <a:path w="7059478" h="4114800">
                <a:moveTo>
                  <a:pt x="7059477" y="4114800"/>
                </a:moveTo>
                <a:lnTo>
                  <a:pt x="0" y="4114800"/>
                </a:lnTo>
                <a:lnTo>
                  <a:pt x="0" y="0"/>
                </a:lnTo>
                <a:lnTo>
                  <a:pt x="7059477" y="0"/>
                </a:lnTo>
                <a:lnTo>
                  <a:pt x="7059477"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488824">
            <a:off x="-221065" y="7727724"/>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2634754" y="3963894"/>
            <a:ext cx="13018493" cy="2130613"/>
          </a:xfrm>
          <a:prstGeom prst="rect">
            <a:avLst/>
          </a:prstGeom>
        </p:spPr>
        <p:txBody>
          <a:bodyPr lIns="0" tIns="0" rIns="0" bIns="0" rtlCol="0" anchor="t">
            <a:spAutoFit/>
          </a:bodyPr>
          <a:lstStyle/>
          <a:p>
            <a:pPr algn="ctr">
              <a:lnSpc>
                <a:spcPts val="17489"/>
              </a:lnSpc>
            </a:pPr>
            <a:r>
              <a:rPr lang="en-US" sz="12492" b="1">
                <a:solidFill>
                  <a:srgbClr val="0C3571"/>
                </a:solidFill>
                <a:latin typeface="Anantason Bold"/>
                <a:ea typeface="Anantason Bold"/>
                <a:cs typeface="Anantason Bold"/>
                <a:sym typeface="Anantas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503</Words>
  <Application>Microsoft Office PowerPoint</Application>
  <PresentationFormat>Custom</PresentationFormat>
  <Paragraphs>39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Canva Sans</vt:lpstr>
      <vt:lpstr>Calibri</vt:lpstr>
      <vt:lpstr>Canva Sans Bold</vt:lpstr>
      <vt:lpstr>Arial</vt:lpstr>
      <vt:lpstr>Anantason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DSA-3 ppt(2).pptx</dc:title>
  <cp:lastModifiedBy>Sahithi Paloji</cp:lastModifiedBy>
  <cp:revision>2</cp:revision>
  <dcterms:created xsi:type="dcterms:W3CDTF">2006-08-16T00:00:00Z</dcterms:created>
  <dcterms:modified xsi:type="dcterms:W3CDTF">2026-09-18T05:35:22Z</dcterms:modified>
  <dc:identifier>DAHVhf2aL50</dc:identifier>
</cp:coreProperties>
</file>